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6e200ac670475f" /><Relationship Type="http://schemas.openxmlformats.org/officeDocument/2006/relationships/extended-properties" Target="/docProps/app.xml" Id="R5fff1a40fd904d61" /><Relationship Type="http://schemas.openxmlformats.org/officeDocument/2006/relationships/officeDocument" Target="/ppt/presentation.xml" Id="R1de796e5e6e045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60b0cb100c42ec"/>
  </p:sldMasterIdLst>
  <p:notesMasterIdLst>
    <p:notesMasterId xmlns:r="http://schemas.openxmlformats.org/officeDocument/2006/relationships" r:id="R8b3114da96d745e0"/>
  </p:notesMasterIdLst>
  <p:sldIdLst>
    <p:sldId xmlns:r="http://schemas.openxmlformats.org/officeDocument/2006/relationships" id="256" r:id="Ra669afcf995748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ef0622102d4149" /><Relationship Type="http://schemas.openxmlformats.org/officeDocument/2006/relationships/slideMaster" Target="/ppt/slideMasters/slideMaster1.xml" Id="R2f60b0cb100c42ec" /><Relationship Type="http://schemas.openxmlformats.org/officeDocument/2006/relationships/notesMaster" Target="/ppt/notesMasters/notesMaster1.xml" Id="R8b3114da96d745e0" /><Relationship Type="http://schemas.openxmlformats.org/officeDocument/2006/relationships/presProps" Target="/ppt/presProps.xml" Id="R59630802ca634aed" /><Relationship Type="http://schemas.openxmlformats.org/officeDocument/2006/relationships/tableStyles" Target="/ppt/tableStyles.xml" Id="Rfcd92ce0eeee4d3d" /><Relationship Type="http://schemas.openxmlformats.org/officeDocument/2006/relationships/slide" Target="/ppt/slides/slide1.xml" Id="Ra669afcf995748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a95e33299e49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ddce09e9b54204" /><Relationship Type="http://schemas.openxmlformats.org/officeDocument/2006/relationships/notesMaster" Target="/ppt/notesMasters/notesMaster1.xml" Id="R0a5974f2589343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Дереккөз: пайдаланушы берген C:/Users/Yerassil/Downloads/6-дәріс. Бағалау (1).pptx, 25-слайд. Throughput: [3,8,4,10,2,7,9,5,6,6]. Бұл GadgetStore-дың өлшенген тарихы емес. N=60 оқу элементі, seed=20261008, 10000 bootstrap жүгірту. Апталар тәуелсіз деп алынады. Басталу 12.10.2026, үзілістер күнтізбелік 4 және 12-апта. Аптаның аяқталуы жексенбімен есептеледі. Нақты жоба міндеттемесі емес. {"quantiles":[{"level":"P50","active_weeks":10,"calendar_weeks":11,"finish_date":"2026-12-27","empirical_probability":0.5301},{"level":"P70","active_weeks":11,"calendar_weeks":13,"finish_date":"2027-01-10","empirical_probability":0.7876},{"level":"P85","active_weeks":12,"calendar_weeks":14,"finish_date":"2027-01-17","empirical_probability":0.9301},{"level":"P95","active_weeks":13,"calendar_weeks":15,"finish_date":"2027-01-24","empirical_probability":0.9834}],"data_status":"lecture_example_not_project_history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a3ffa6e8274ce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2886ef21054a1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e1f0b2556f472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f35d3d7435467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0d2c45677a4ca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16120053954e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D42E576-D773-4A17-B6C4-6C1279C973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96D851F-38C7-4028-8F9E-4A9D8435612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A8A8486-3ED2-4DE8-9654-5368EED0EE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D7D3AA-3ACE-4278-BE28-F75BBC101A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DAAFC82-D31F-466F-BD7B-344E9CBA32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EDE852B-BB12-474F-BD9E-342B799E51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E6452F4-F4CF-4E30-B676-F8401DAC18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8251C3C-383B-48F2-AD4A-27660AC8CE5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467F26B-E696-4586-AA96-25838673D2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8CA96C8-BDF5-4A7D-93C6-D27738AD67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3e4ffb0e6b4c12" /><Relationship Type="http://schemas.openxmlformats.org/officeDocument/2006/relationships/slideLayout" Target="/ppt/slideLayouts/slideLayout1.xml" Id="R4a46a7ff37364682" /><Relationship Type="http://schemas.openxmlformats.org/officeDocument/2006/relationships/slideLayout" Target="/ppt/slideLayouts/slideLayout2.xml" Id="R70e674f19bf14d8a" /><Relationship Type="http://schemas.openxmlformats.org/officeDocument/2006/relationships/slideLayout" Target="/ppt/slideLayouts/slideLayout3.xml" Id="Rc6cff7631e484144" /><Relationship Type="http://schemas.openxmlformats.org/officeDocument/2006/relationships/slideLayout" Target="/ppt/slideLayouts/slideLayout4.xml" Id="R8c958995c9164bca" /><Relationship Type="http://schemas.openxmlformats.org/officeDocument/2006/relationships/slideLayout" Target="/ppt/slideLayouts/slideLayout5.xml" Id="R22c371e27790406a" /><Relationship Type="http://schemas.openxmlformats.org/officeDocument/2006/relationships/slideLayout" Target="/ppt/slideLayouts/slideLayout6.xml" Id="R6b725710ee8942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46a7ff37364682"/>
    <p:sldLayoutId xmlns:r="http://schemas.openxmlformats.org/officeDocument/2006/relationships" id="2147483650" r:id="R70e674f19bf14d8a"/>
    <p:sldLayoutId xmlns:r="http://schemas.openxmlformats.org/officeDocument/2006/relationships" id="2147483651" r:id="Rc6cff7631e484144"/>
    <p:sldLayoutId xmlns:r="http://schemas.openxmlformats.org/officeDocument/2006/relationships" id="2147483652" r:id="R8c958995c9164bca"/>
    <p:sldLayoutId xmlns:r="http://schemas.openxmlformats.org/officeDocument/2006/relationships" id="2147483653" r:id="R22c371e27790406a"/>
    <p:sldLayoutId xmlns:r="http://schemas.openxmlformats.org/officeDocument/2006/relationships" id="2147483654" r:id="R6b725710ee8942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7f8468eb3f4bba" /><Relationship Type="http://schemas.openxmlformats.org/officeDocument/2006/relationships/notesSlide" Target="/ppt/notesSlides/notesSlide1.xml" Id="Re17eb391f56949a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67761B02-F147-4BE0-86EF-2A41A384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2C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2C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C43"/>
                </a:solidFill>
                <a:latin typeface="Arial"/>
                <a:ea typeface="Arial"/>
                <a:cs typeface="Arial"/>
              </a:rPr>
              <a:t>GadgetStore релизінің аяқталу болжамы</a:t>
            </a:r>
          </a:p>
        </p:txBody>
      </p:sp>
      <p:sp>
        <p:nvSpPr>
          <p:cNvPr id="2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4BD69236-3D54-4A73-84C9-8B8CCB96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8653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86531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86531C"/>
                </a:solidFill>
                <a:latin typeface="Arial"/>
                <a:ea typeface="Arial"/>
                <a:cs typeface="Arial"/>
              </a:rPr>
              <a:t>Оқу моделі, нақты жоба тарихымен расталмаған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31D0C7BA-4276-4D19-92A4-18E42337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315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315A8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5A8A"/>
                </a:solidFill>
                <a:latin typeface="Arial"/>
                <a:ea typeface="Arial"/>
                <a:cs typeface="Arial"/>
              </a:rPr>
              <a:t>P85 жоспарлау шегі</a:t>
            </a:r>
          </a:p>
        </p:txBody>
      </p:sp>
      <p:sp>
        <p:nvSpPr>
          <p:cNvPr id="4" name="date">
            <a:extLst xmlns:a="http://schemas.openxmlformats.org/drawingml/2006/main">
              <a:ext uri="{FF2B5EF4-FFF2-40B4-BE49-F238E27FC236}">
                <a16:creationId xmlns:a16="http://schemas.microsoft.com/office/drawing/2014/main" id="{AEAC5315-E1E2-4464-BBE9-5DF9F57E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419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172C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172C43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72C43"/>
                </a:solidFill>
                <a:latin typeface="Arial"/>
                <a:ea typeface="Arial"/>
                <a:cs typeface="Arial"/>
              </a:rPr>
              <a:t>17.01.2027</a:t>
            </a:r>
          </a:p>
        </p:txBody>
      </p:sp>
      <p:sp>
        <p:nvSpPr>
          <p:cNvPr id="5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3DA3EB6C-CE8C-4DC8-BFEE-7A355D68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4524375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7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74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C"/>
                </a:solidFill>
                <a:latin typeface="Arial"/>
                <a:ea typeface="Arial"/>
                <a:cs typeface="Arial"/>
              </a:rPr>
              <a:t>12 белсенді апта</a:t>
            </a:r>
          </a:p>
          <a:p xmlns:a="http://schemas.openxmlformats.org/drawingml/2006/main">
            <a:pPr>
              <a:defRPr sz="1875" b="0">
                <a:solidFill>
                  <a:srgbClr val="24374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C"/>
                </a:solidFill>
                <a:latin typeface="Arial"/>
                <a:ea typeface="Arial"/>
                <a:cs typeface="Arial"/>
              </a:rPr>
              <a:t>Симуляцияда осы күнге дейін</a:t>
            </a:r>
          </a:p>
          <a:p xmlns:a="http://schemas.openxmlformats.org/drawingml/2006/main">
            <a:pPr>
              <a:defRPr sz="1875" b="0">
                <a:solidFill>
                  <a:srgbClr val="24374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C"/>
                </a:solidFill>
                <a:latin typeface="Arial"/>
                <a:ea typeface="Arial"/>
                <a:cs typeface="Arial"/>
              </a:rPr>
              <a:t>кемінде 85% жүгірту аяқталады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17D24-0E4C-4B2F-998A-4E0D44924EAA}"/>
              </a:ext>
            </a:extLst>
          </p:cNvPr>
          <p:cNvGraphicFramePr/>
          <p:nvPr/>
        </p:nvGraphicFramePr>
        <p:xfrm>
          <a:off xmlns:a="http://schemas.openxmlformats.org/drawingml/2006/main" x="5457825" y="1685925"/>
          <a:ext xmlns:a="http://schemas.openxmlformats.org/drawingml/2006/main" cx="619125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66800"/>
                <a:gridCol w="1619250"/>
                <a:gridCol w="3505200"/>
              </a:tblGrid>
              <a:tr h="438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C"/>
                          </a:solidFill>
                          <a:latin typeface="Arial"/>
                          <a:ea typeface="Arial"/>
                          <a:cs typeface="Arial"/>
                        </a:rPr>
                        <a:t>Деңгей</a:t>
                      </a:r>
                    </a:p>
                  </a:txBody>
                  <a:tcPr marL="91440" marR="91440" marT="45720" marB="45720">
                    <a:solidFill>
                      <a:srgbClr val="E5EC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C"/>
                          </a:solidFill>
                          <a:latin typeface="Arial"/>
                          <a:ea typeface="Arial"/>
                          <a:cs typeface="Arial"/>
                        </a:rPr>
                        <a:t>Белсенді апта</a:t>
                      </a:r>
                    </a:p>
                  </a:txBody>
                  <a:tcPr marL="91440" marR="91440" marT="45720" marB="45720">
                    <a:solidFill>
                      <a:srgbClr val="E5EC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C"/>
                          </a:solidFill>
                          <a:latin typeface="Arial"/>
                          <a:ea typeface="Arial"/>
                          <a:cs typeface="Arial"/>
                        </a:rPr>
                        <a:t>Күнтізбелік аяқталу</a:t>
                      </a:r>
                    </a:p>
                  </a:txBody>
                  <a:tcPr marL="91440" marR="91440" marT="45720" marB="45720">
                    <a:solidFill>
                      <a:srgbClr val="E5ECF4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C"/>
                          </a:solidFill>
                          <a:latin typeface="Arial"/>
                          <a:ea typeface="Arial"/>
                          <a:cs typeface="Arial"/>
                        </a:rPr>
                        <a:t>P50</a:t>
                      </a:r>
                    </a:p>
                  </a:txBody>
                  <a:tcPr marL="91440" marR="91440" marT="45720" marB="45720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C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C"/>
                          </a:solidFill>
                          <a:latin typeface="Arial"/>
                          <a:ea typeface="Arial"/>
                          <a:cs typeface="Arial"/>
                        </a:rPr>
                        <a:t>27.12.2026</a:t>
                      </a:r>
                    </a:p>
                  </a:txBody>
                  <a:tcPr marL="91440" marR="91440" marT="45720" marB="45720">
                    <a:solidFill>
                      <a:srgbClr val="FAFBFD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C"/>
                          </a:solidFill>
                          <a:latin typeface="Arial"/>
                          <a:ea typeface="Arial"/>
                          <a:cs typeface="Arial"/>
                        </a:rPr>
                        <a:t>P70</a:t>
                      </a:r>
                    </a:p>
                  </a:txBody>
                  <a:tcPr marL="91440" marR="91440" marT="45720" marB="45720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C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C"/>
                          </a:solidFill>
                          <a:latin typeface="Arial"/>
                          <a:ea typeface="Arial"/>
                          <a:cs typeface="Arial"/>
                        </a:rPr>
                        <a:t>10.01.2027</a:t>
                      </a:r>
                    </a:p>
                  </a:txBody>
                  <a:tcPr marL="91440" marR="91440" marT="45720" marB="45720">
                    <a:solidFill>
                      <a:srgbClr val="FAFBFD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C"/>
                          </a:solidFill>
                          <a:latin typeface="Arial"/>
                          <a:ea typeface="Arial"/>
                          <a:cs typeface="Arial"/>
                        </a:rPr>
                        <a:t>P85</a:t>
                      </a:r>
                    </a:p>
                  </a:txBody>
                  <a:tcPr marL="91440" marR="91440" marT="45720" marB="45720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C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C"/>
                          </a:solidFill>
                          <a:latin typeface="Arial"/>
                          <a:ea typeface="Arial"/>
                          <a:cs typeface="Arial"/>
                        </a:rPr>
                        <a:t>17.01.2027</a:t>
                      </a:r>
                    </a:p>
                  </a:txBody>
                  <a:tcPr marL="91440" marR="91440" marT="45720" marB="45720">
                    <a:solidFill>
                      <a:srgbClr val="FAFBFD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C"/>
                          </a:solidFill>
                          <a:latin typeface="Arial"/>
                          <a:ea typeface="Arial"/>
                          <a:cs typeface="Arial"/>
                        </a:rPr>
                        <a:t>P95</a:t>
                      </a:r>
                    </a:p>
                  </a:txBody>
                  <a:tcPr marL="91440" marR="91440" marT="45720" marB="45720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C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91440" marR="91440" marT="45720" marB="45720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C"/>
                          </a:solidFill>
                          <a:latin typeface="Arial"/>
                          <a:ea typeface="Arial"/>
                          <a:cs typeface="Arial"/>
                        </a:rPr>
                        <a:t>24.01.2027</a:t>
                      </a:r>
                    </a:p>
                  </a:txBody>
                  <a:tcPr marL="91440" marR="91440" marT="45720" marB="45720"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  <p:sp>
        <p:nvSpPr>
          <p:cNvPr id="7" name="assumptions-heading">
            <a:extLst xmlns:a="http://schemas.openxmlformats.org/drawingml/2006/main">
              <a:ext uri="{FF2B5EF4-FFF2-40B4-BE49-F238E27FC236}">
                <a16:creationId xmlns:a16="http://schemas.microsoft.com/office/drawing/2014/main" id="{AA981EB7-91D4-4987-B1AD-D19DF734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95775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2C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2C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C43"/>
                </a:solidFill>
                <a:latin typeface="Arial"/>
                <a:ea typeface="Arial"/>
                <a:cs typeface="Arial"/>
              </a:rPr>
              <a:t>Жорамалдар</a:t>
            </a:r>
          </a:p>
        </p:txBody>
      </p:sp>
      <p:sp>
        <p:nvSpPr>
          <p:cNvPr id="8" name="assumptions">
            <a:extLst xmlns:a="http://schemas.openxmlformats.org/drawingml/2006/main">
              <a:ext uri="{FF2B5EF4-FFF2-40B4-BE49-F238E27FC236}">
                <a16:creationId xmlns:a16="http://schemas.microsoft.com/office/drawing/2014/main" id="{B49A7B42-1A61-4EE9-A278-8728497B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24400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7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37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74C"/>
                </a:solidFill>
                <a:latin typeface="Arial"/>
                <a:ea typeface="Arial"/>
                <a:cs typeface="Arial"/>
              </a:rPr>
              <a:t>60 элемент, бір орындаушы</a:t>
            </a:r>
          </a:p>
          <a:p xmlns:a="http://schemas.openxmlformats.org/drawingml/2006/main">
            <a:pPr>
              <a:defRPr sz="1800" b="0">
                <a:solidFill>
                  <a:srgbClr val="2437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74C"/>
                </a:solidFill>
                <a:latin typeface="Arial"/>
                <a:ea typeface="Arial"/>
                <a:cs typeface="Arial"/>
              </a:rPr>
              <a:t>Басталу: 12.10.2026</a:t>
            </a:r>
          </a:p>
          <a:p xmlns:a="http://schemas.openxmlformats.org/drawingml/2006/main">
            <a:pPr>
              <a:defRPr sz="1800" b="0">
                <a:solidFill>
                  <a:srgbClr val="2437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74C"/>
                </a:solidFill>
                <a:latin typeface="Arial"/>
                <a:ea typeface="Arial"/>
                <a:cs typeface="Arial"/>
              </a:rPr>
              <a:t>4 және 12-апталарда оқу үзілісі</a:t>
            </a:r>
          </a:p>
        </p:txBody>
      </p:sp>
      <p:sp>
        <p:nvSpPr>
          <p:cNvPr id="9" name="risks-heading">
            <a:extLst xmlns:a="http://schemas.openxmlformats.org/drawingml/2006/main">
              <a:ext uri="{FF2B5EF4-FFF2-40B4-BE49-F238E27FC236}">
                <a16:creationId xmlns:a16="http://schemas.microsoft.com/office/drawing/2014/main" id="{3F354699-CC0A-4C1C-9E05-65538634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95775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2C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2C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C43"/>
                </a:solidFill>
                <a:latin typeface="Arial"/>
                <a:ea typeface="Arial"/>
                <a:cs typeface="Arial"/>
              </a:rPr>
              <a:t>Болжамды өзгертетін жағдайлар</a:t>
            </a:r>
          </a:p>
        </p:txBody>
      </p:sp>
      <p:sp>
        <p:nvSpPr>
          <p:cNvPr id="10" name="risks">
            <a:extLst xmlns:a="http://schemas.openxmlformats.org/drawingml/2006/main">
              <a:ext uri="{FF2B5EF4-FFF2-40B4-BE49-F238E27FC236}">
                <a16:creationId xmlns:a16="http://schemas.microsoft.com/office/drawing/2014/main" id="{E00BF154-6517-4B01-A899-9C86CAD6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24400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7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37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74C"/>
                </a:solidFill>
                <a:latin typeface="Arial"/>
                <a:ea typeface="Arial"/>
                <a:cs typeface="Arial"/>
              </a:rPr>
              <a:t>Scope өсуі, сыртқы шешімді күту,</a:t>
            </a:r>
          </a:p>
          <a:p xmlns:a="http://schemas.openxmlformats.org/drawingml/2006/main">
            <a:pPr>
              <a:defRPr sz="1800" b="0">
                <a:solidFill>
                  <a:srgbClr val="2437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74C"/>
                </a:solidFill>
                <a:latin typeface="Arial"/>
                <a:ea typeface="Arial"/>
                <a:cs typeface="Arial"/>
              </a:rPr>
              <a:t>апталық уақыттың азаюы</a:t>
            </a:r>
          </a:p>
          <a:p xmlns:a="http://schemas.openxmlformats.org/drawingml/2006/main">
            <a:pPr>
              <a:defRPr sz="1800" b="0">
                <a:solidFill>
                  <a:srgbClr val="2437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74C"/>
                </a:solidFill>
                <a:latin typeface="Arial"/>
                <a:ea typeface="Arial"/>
                <a:cs typeface="Arial"/>
              </a:rPr>
              <a:t>Қайта қарау: 26.10.2026</a:t>
            </a:r>
          </a:p>
        </p:txBody>
      </p:sp>
      <p:sp>
        <p:nvSpPr>
          <p:cNvPr id="11" name="source">
            <a:extLst xmlns:a="http://schemas.openxmlformats.org/drawingml/2006/main">
              <a:ext uri="{FF2B5EF4-FFF2-40B4-BE49-F238E27FC236}">
                <a16:creationId xmlns:a16="http://schemas.microsoft.com/office/drawing/2014/main" id="{F5BC7FDF-AE83-40B5-8228-26C3E733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05525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8"/>
                </a:solidFill>
                <a:latin typeface="Arial"/>
                <a:ea typeface="Arial"/>
                <a:cs typeface="Arial"/>
              </a:rPr>
              <a:t>10 000 жүгірту. Дерек: 6-дәріс, 25-слайд. P50–P95 аралығы: 27.12.2026 – 24.01.2027.</a:t>
            </a:r>
          </a:p>
        </p:txBody>
      </p:sp>
    </p:spTree>
    <p:extLst>
      <p:ext uri="{BB962C8B-B14F-4D97-AF65-F5344CB8AC3E}">
        <p14:creationId xmlns:p14="http://schemas.microsoft.com/office/powerpoint/2010/main" val="5227645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2026-10-08T11:31:54.3960000Z</dcterms:created>
  <dcterms:modified xsi:type="dcterms:W3CDTF">2026-10-08T11:31:54.3960000Z</dcterms:modified>
</coreProperties>
</file>